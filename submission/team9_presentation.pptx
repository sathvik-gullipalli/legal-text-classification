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34afa89c5742b1" /><Relationship Type="http://schemas.openxmlformats.org/officeDocument/2006/relationships/extended-properties" Target="/docProps/app.xml" Id="Rcf878646943443f5" /><Relationship Type="http://schemas.openxmlformats.org/officeDocument/2006/relationships/officeDocument" Target="/ppt/presentation.xml" Id="R36b6a6b8510c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52f6dc70ab4691"/>
  </p:sldMasterIdLst>
  <p:notesMasterIdLst>
    <p:notesMasterId xmlns:r="http://schemas.openxmlformats.org/officeDocument/2006/relationships" r:id="Re3ae08547d30451e"/>
  </p:notesMasterIdLst>
  <p:sldIdLst>
    <p:sldId xmlns:r="http://schemas.openxmlformats.org/officeDocument/2006/relationships" id="256" r:id="R6c6277a6bd284946"/>
    <p:sldId xmlns:r="http://schemas.openxmlformats.org/officeDocument/2006/relationships" id="257" r:id="Rce9e6b21ae314cf4"/>
    <p:sldId xmlns:r="http://schemas.openxmlformats.org/officeDocument/2006/relationships" id="258" r:id="Re2935667ca0a46d5"/>
    <p:sldId xmlns:r="http://schemas.openxmlformats.org/officeDocument/2006/relationships" id="259" r:id="R898bd9ba2e4c4e31"/>
    <p:sldId xmlns:r="http://schemas.openxmlformats.org/officeDocument/2006/relationships" id="260" r:id="R0fea23bc7ea947fe"/>
    <p:sldId xmlns:r="http://schemas.openxmlformats.org/officeDocument/2006/relationships" id="261" r:id="Rf076cc055dab4413"/>
    <p:sldId xmlns:r="http://schemas.openxmlformats.org/officeDocument/2006/relationships" id="262" r:id="R6c908fb6770f4a0f"/>
    <p:sldId xmlns:r="http://schemas.openxmlformats.org/officeDocument/2006/relationships" id="263" r:id="Rf28c99eea2db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bc0c53b09242a8" /><Relationship Type="http://schemas.openxmlformats.org/officeDocument/2006/relationships/slideMaster" Target="/ppt/slideMasters/slideMaster1.xml" Id="R5f52f6dc70ab4691" /><Relationship Type="http://schemas.openxmlformats.org/officeDocument/2006/relationships/notesMaster" Target="/ppt/notesMasters/notesMaster1.xml" Id="Re3ae08547d30451e" /><Relationship Type="http://schemas.openxmlformats.org/officeDocument/2006/relationships/presProps" Target="/ppt/presProps.xml" Id="R65b73947da3b43d9" /><Relationship Type="http://schemas.openxmlformats.org/officeDocument/2006/relationships/tableStyles" Target="/ppt/tableStyles.xml" Id="Raf7e9dcb84ba40ef" /><Relationship Type="http://schemas.openxmlformats.org/officeDocument/2006/relationships/slide" Target="/ppt/slides/slide1.xml" Id="R6c6277a6bd284946" /><Relationship Type="http://schemas.openxmlformats.org/officeDocument/2006/relationships/slide" Target="/ppt/slides/slide2.xml" Id="Rce9e6b21ae314cf4" /><Relationship Type="http://schemas.openxmlformats.org/officeDocument/2006/relationships/slide" Target="/ppt/slides/slide3.xml" Id="Re2935667ca0a46d5" /><Relationship Type="http://schemas.openxmlformats.org/officeDocument/2006/relationships/slide" Target="/ppt/slides/slide4.xml" Id="R898bd9ba2e4c4e31" /><Relationship Type="http://schemas.openxmlformats.org/officeDocument/2006/relationships/slide" Target="/ppt/slides/slide5.xml" Id="R0fea23bc7ea947fe" /><Relationship Type="http://schemas.openxmlformats.org/officeDocument/2006/relationships/slide" Target="/ppt/slides/slide6.xml" Id="Rf076cc055dab4413" /><Relationship Type="http://schemas.openxmlformats.org/officeDocument/2006/relationships/slide" Target="/ppt/slides/slide7.xml" Id="R6c908fb6770f4a0f" /><Relationship Type="http://schemas.openxmlformats.org/officeDocument/2006/relationships/slide" Target="/ppt/slides/slide8.xml" Id="Rf28c99eea2db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20d7e7e37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6a75bca434efd" /><Relationship Type="http://schemas.openxmlformats.org/officeDocument/2006/relationships/notesMaster" Target="/ppt/notesMasters/notesMaster1.xml" Id="R47bef21f426d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e8e2f75bd342f1" /><Relationship Type="http://schemas.openxmlformats.org/officeDocument/2006/relationships/notesMaster" Target="/ppt/notesMasters/notesMaster1.xml" Id="R0fb68eed8ae0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51e8eef1fe4217" /><Relationship Type="http://schemas.openxmlformats.org/officeDocument/2006/relationships/notesMaster" Target="/ppt/notesMasters/notesMaster1.xml" Id="R4078c152a51341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8a84e8c0245f5" /><Relationship Type="http://schemas.openxmlformats.org/officeDocument/2006/relationships/notesMaster" Target="/ppt/notesMasters/notesMaster1.xml" Id="R4aabe77d41b04e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2014d2a5548f4" /><Relationship Type="http://schemas.openxmlformats.org/officeDocument/2006/relationships/notesMaster" Target="/ppt/notesMasters/notesMaster1.xml" Id="Rffda939e104c4e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62c6ac86ad40b2" /><Relationship Type="http://schemas.openxmlformats.org/officeDocument/2006/relationships/notesMaster" Target="/ppt/notesMasters/notesMaster1.xml" Id="Rfea6415143cd49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9e7e200e7a414e" /><Relationship Type="http://schemas.openxmlformats.org/officeDocument/2006/relationships/notesMaster" Target="/ppt/notesMasters/notesMaster1.xml" Id="R1be356ab31e74c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12b6e91594ca6" /><Relationship Type="http://schemas.openxmlformats.org/officeDocument/2006/relationships/notesMaster" Target="/ppt/notesMasters/notesMaster1.xml" Id="R110b05742e64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assigned problem and both team members. Explain that we classify issue areas from opinion text.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supports cataloging and search. Our target is the issue area, not the case outcome. The Stanford study motivates the comparison. We add a TF-IDF baseline and independently evaluate the adapted methods.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corpus contains 8419 originals. We remove missing labels, empty text, duplicates, conflicting groups, and a category with insufficient groups. 8373 remain. The class imbalance motivates macro-F1.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union-find data preparation catches transitive duplicate links. Case-group overlap is asserted to be zero. Ratios are approximate because groups move together. Validation chooses configurations. We save selection before transforming test opinions.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TF-IDF captures words and phrases. LDA discovers latent topics without labels. Doc2Vec learns a document embedding. LR learns the supervised mapping to issue areas. C controls inverse regularization. Counts are a documented adaptation from the reference. One-worker Doc2Vec and seeded inference support reproducibility.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selects tfidf with macro-F1 0.6817. Test contains 1675 complete opinions. We report accuracy and macro-F1 because classes are imbalanced. The chart and table use our own frozen test evidence, not scores copied from the paper.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02_live_demo.ipynb, select the held-out Criminal Procedure example and TF-IDF, then press the button. Explain the top-three probabilities and influential terms. Switch models. Show five similar training opinions. The slide uses the actual saved-example output: CARTER v. ILLINOIS.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using the validation-selected model and its measured held-out result. Explain why a grouped random split is not a future-case evaluation. Mention imbalance, noisy source alignment, and short-text mismatch. Potential extensions are temporal evaluation and probability calibration. Sources: Krithika Iyer, Classification of Legal Text (Stanford CS229, 2020), https://cs229.stanford.edu/proj2020spr/report/Iyer.pdf. Corpus: https://github.com/bdewilde/textacy-data/releases/tag/supreme_court_py3_v1.0. Official labels: https://github.com/chartbeat-labs/textacy/blob/main/src/textacy/datasets/supreme_court.py. Our measured evidence: results/dataset_summary.json, results/metrics.json, results/selection.json and saved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96d429eaf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574133c3a4e4b" /><Relationship Type="http://schemas.openxmlformats.org/officeDocument/2006/relationships/slideLayout" Target="/ppt/slideLayouts/slideLayout1.xml" Id="R852f72df4279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2f72df4279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bb7acc4294e54" /><Relationship Type="http://schemas.openxmlformats.org/officeDocument/2006/relationships/notesSlide" Target="/ppt/notesSlides/notesSlide1.xml" Id="R9970a8cb741b43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31ec3805e49ac" /><Relationship Type="http://schemas.openxmlformats.org/officeDocument/2006/relationships/notesSlide" Target="/ppt/notesSlides/notesSlide2.xml" Id="Rd647ead16af345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e9aae54dc4126" /><Relationship Type="http://schemas.openxmlformats.org/officeDocument/2006/relationships/chart" Target="/ppt/slides/charts/chart1.xml" Id="Re5f7987479ac4d91" /><Relationship Type="http://schemas.openxmlformats.org/officeDocument/2006/relationships/notesSlide" Target="/ppt/notesSlides/notesSlide3.xml" Id="Ree9372223ddb46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0baec4cdc431a" /><Relationship Type="http://schemas.openxmlformats.org/officeDocument/2006/relationships/notesSlide" Target="/ppt/notesSlides/notesSlide4.xml" Id="R94fd28821778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5a11a1664787" /><Relationship Type="http://schemas.openxmlformats.org/officeDocument/2006/relationships/notesSlide" Target="/ppt/notesSlides/notesSlide5.xml" Id="R4404950c3230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6e72698c4fb8" /><Relationship Type="http://schemas.openxmlformats.org/officeDocument/2006/relationships/chart" Target="/ppt/slides/charts/chart2.xml" Id="R0b03b55d4d504139" /><Relationship Type="http://schemas.openxmlformats.org/officeDocument/2006/relationships/notesSlide" Target="/ppt/notesSlides/notesSlide6.xml" Id="Rdce05e08d0d3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1e0697d844ff6" /><Relationship Type="http://schemas.openxmlformats.org/officeDocument/2006/relationships/notesSlide" Target="/ppt/notesSlides/notesSlide7.xml" Id="R7511276530f444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abe7e81df46a4" /><Relationship Type="http://schemas.openxmlformats.org/officeDocument/2006/relationships/notesSlide" Target="/ppt/notesSlides/notesSlide8.xml" Id="R267a051f43714a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Opinions</c:v>
          </c:tx>
          <c:spPr>
            <a:solidFill xmlns:a="http://schemas.openxmlformats.org/drawingml/2006/main">
              <a:srgbClr val="247C91"/>
            </a:solidFill>
          </c:spPr>
          <c:cat>
            <c:strRef>
              <c:f>'Chart Data'!$A$2:$A$14</c:f>
              <c:strCache>
                <c:ptCount val="13"/>
                <c:pt idx="0">
                  <c:v>Miscellaneous</c:v>
                </c:pt>
                <c:pt idx="1">
                  <c:v>Interstate Relations</c:v>
                </c:pt>
                <c:pt idx="2">
                  <c:v>Attorneys</c:v>
                </c:pt>
                <c:pt idx="3">
                  <c:v>Privacy</c:v>
                </c:pt>
                <c:pt idx="4">
                  <c:v>Federal Taxation</c:v>
                </c:pt>
                <c:pt idx="5">
                  <c:v>Due Process</c:v>
                </c:pt>
                <c:pt idx="6">
                  <c:v>Unions</c:v>
                </c:pt>
                <c:pt idx="7">
                  <c:v>Federalism</c:v>
                </c:pt>
                <c:pt idx="8">
                  <c:v>First Amendment</c:v>
                </c:pt>
                <c:pt idx="9">
                  <c:v>Judicial Power</c:v>
                </c:pt>
                <c:pt idx="10">
                  <c:v>Civil Rights</c:v>
                </c:pt>
                <c:pt idx="11">
                  <c:v>Economic Activity</c:v>
                </c:pt>
                <c:pt idx="12">
                  <c:v>Criminal Procedure</c:v>
                </c:pt>
              </c:strCache>
            </c:strRef>
          </c:cat>
          <c:val>
            <c:numRef>
              <c:f>'Chart Data'!$B$2:$B$14</c:f>
              <c:numCache>
                <c:formatCode>General</c:formatCode>
                <c:ptCount val="13"/>
                <c:pt idx="0">
                  <c:v>19</c:v>
                </c:pt>
                <c:pt idx="1">
                  <c:v>58</c:v>
                </c:pt>
                <c:pt idx="2">
                  <c:v>98</c:v>
                </c:pt>
                <c:pt idx="3">
                  <c:v>110</c:v>
                </c:pt>
                <c:pt idx="4">
                  <c:v>304</c:v>
                </c:pt>
                <c:pt idx="5">
                  <c:v>335</c:v>
                </c:pt>
                <c:pt idx="6">
                  <c:v>345</c:v>
                </c:pt>
                <c:pt idx="7">
                  <c:v>367</c:v>
                </c:pt>
                <c:pt idx="8">
                  <c:v>658</c:v>
                </c:pt>
                <c:pt idx="9">
                  <c:v>1138</c:v>
                </c:pt>
                <c:pt idx="10">
                  <c:v>1354</c:v>
                </c:pt>
                <c:pt idx="11">
                  <c:v>1665</c:v>
                </c:pt>
                <c:pt idx="12">
                  <c:v>1922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47C91"/>
            </a:solidFill>
          </c:spPr>
          <c:cat>
            <c:strRef>
              <c:f>'Chart Data'!$A$2:$A$5</c:f>
              <c:strCache>
                <c:ptCount val="4"/>
                <c:pt idx="0">
                  <c:v>Majority</c:v>
                </c:pt>
                <c:pt idx="1">
                  <c:v>TF-IDF</c:v>
                </c:pt>
                <c:pt idx="2">
                  <c:v>LDA</c:v>
                </c:pt>
                <c:pt idx="3">
                  <c:v>Doc2Vec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0.2239</c:v>
                </c:pt>
                <c:pt idx="1">
                  <c:v>0.8185</c:v>
                </c:pt>
                <c:pt idx="2">
                  <c:v>0.6878</c:v>
                </c:pt>
                <c:pt idx="3">
                  <c:v>0.7349</c:v>
                </c:pt>
              </c:numCache>
            </c:numRef>
          </c:val>
        </c:ser>
        <c:ser>
          <c:idx val="1"/>
          <c:order val="1"/>
          <c:tx>
            <c:v>Macro-F1</c:v>
          </c:tx>
          <c:spPr>
            <a:solidFill xmlns:a="http://schemas.openxmlformats.org/drawingml/2006/main">
              <a:srgbClr val="C39343"/>
            </a:solidFill>
          </c:spPr>
          <c:cat>
            <c:strRef>
              <c:f>'Chart Data'!$C$2:$C$5</c:f>
              <c:strCache>
                <c:ptCount val="4"/>
                <c:pt idx="0">
                  <c:v>Majority</c:v>
                </c:pt>
                <c:pt idx="1">
                  <c:v>TF-IDF</c:v>
                </c:pt>
                <c:pt idx="2">
                  <c:v>LDA</c:v>
                </c:pt>
                <c:pt idx="3">
                  <c:v>Doc2Vec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0.0281</c:v>
                </c:pt>
                <c:pt idx="1">
                  <c:v>0.7186</c:v>
                </c:pt>
                <c:pt idx="2">
                  <c:v>0.5221</c:v>
                </c:pt>
                <c:pt idx="3">
                  <c:v>0.6428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9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8065F-AF71-4FD6-81B7-09FFA2F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 Legal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39684-788D-4910-A41F-60A1A8A7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1DAE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1DAE2"/>
                </a:solidFill>
                <a:latin typeface="Arial"/>
                <a:ea typeface="Arial"/>
                <a:cs typeface="Arial"/>
              </a:rPr>
              <a:t>Machine Learning mini-project</a:t>
            </a:r>
          </a:p>
          <a:p xmlns:a="http://schemas.openxmlformats.org/drawingml/2006/main">
            <a:pPr>
              <a:defRPr sz="2250" b="0">
                <a:solidFill>
                  <a:srgbClr val="C1DAE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1DAE2"/>
                </a:solidFill>
                <a:latin typeface="Arial"/>
                <a:ea typeface="Arial"/>
                <a:cs typeface="Arial"/>
              </a:rPr>
              <a:t>Team 9 / Problem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9AFDC-5BE8-4D2C-9382-B6A5D39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Sai Sathvik Gullipalli  /  PES2UG24CS430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Priyanka Mallikarjuna Reddy  /  PES2UG24CS378</a:t>
            </a:r>
          </a:p>
        </p:txBody>
      </p:sp>
    </p:spTree>
    <p:extLst>
      <p:ext uri="{BB962C8B-B14F-4D97-AF65-F5344CB8AC3E}">
        <p14:creationId xmlns:p14="http://schemas.microsoft.com/office/powerpoint/2010/main" val="2009712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3D475-BFBE-4B7D-B9BA-88E2931C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Legal opinion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DE984-5C26-4F58-B070-8463D4AF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F446A-84A1-4084-8D83-1EADF3EF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8B262-CE83-410E-BA21-7BB5ED6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A full English US Supreme Court opinion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DBAAB-9E28-438D-B20B-7E2A7D1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C739A-9C70-417A-B720-4019ED8D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One broad issue area, such as Criminal Procedure or Civil Rights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BE971-0D55-44B0-BB1D-528DF93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33F9-C44C-4790-A88C-64982CCC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How do lexical features, topics, and document embeddings compare?</a:t>
            </a:r>
          </a:p>
        </p:txBody>
      </p:sp>
    </p:spTree>
    <p:extLst>
      <p:ext uri="{BB962C8B-B14F-4D97-AF65-F5344CB8AC3E}">
        <p14:creationId xmlns:p14="http://schemas.microsoft.com/office/powerpoint/2010/main" val="673923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1E904-07F7-4BE7-81B7-1DD2D1C9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Dataset and category imbalance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92E0-E7CE-4547-88F1-D1CEE98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26E98-9A10-454E-A5F3-F08D2FAA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8,419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154E-B890-4DD0-AF15-F03CC7F5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original opinions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A3CF5-B55A-4948-A0FA-9B87D94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8,373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9D8CD-A239-4FF2-B271-BE9C097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13 supported issue areas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85284-E40E-49AB-81F5-DC3E605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1946–2016</a:t>
            </a:r>
          </a:p>
          <a:p xmlns:a="http://schemas.openxmlformats.org/drawingml/2006/main">
            <a:pPr>
              <a:defRPr sz="1725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Private Action excluded: one case</a:t>
            </a:r>
          </a:p>
          <a:p xmlns:a="http://schemas.openxmlformats.org/drawingml/2006/main">
            <a:pPr>
              <a:defRPr sz="1725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46 records excluded overall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238625" y="1466850"/>
          <a:ext xmlns:a="http://schemas.openxmlformats.org/drawingml/2006/main" cx="73342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f7987479ac4d91"/>
          </a:graphicData>
        </a:graphic>
      </p:graphicFrame>
    </p:spTree>
    <p:extLst>
      <p:ext uri="{BB962C8B-B14F-4D97-AF65-F5344CB8AC3E}">
        <p14:creationId xmlns:p14="http://schemas.microsoft.com/office/powerpoint/2010/main" val="1473905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0F24C-4D41-4A84-9121-47F70CCE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Preparation and 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6898-5FDA-490C-9E2D-6E7CE551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657350"/>
          <a:ext xmlns:a="http://schemas.openxmlformats.org/drawingml/2006/main" cx="108775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2005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Clean and group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Link shared citations and normalized text hashes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Split once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5,023 train / 1,675 validation / 1,675 test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Learn representations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Fit vocabularies, LDA, and Doc2Vec on training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Select and freeze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Validation macro-F1, then accuracy and latency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Evaluate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One held-out comparison of frozen models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1F977-6F85-48B6-9A5E-879F3A5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Seed 42. Case groups never cross partitions.</a:t>
            </a:r>
          </a:p>
        </p:txBody>
      </p:sp>
    </p:spTree>
    <p:extLst>
      <p:ext uri="{BB962C8B-B14F-4D97-AF65-F5344CB8AC3E}">
        <p14:creationId xmlns:p14="http://schemas.microsoft.com/office/powerpoint/2010/main" val="1777706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ACE2E-CA8D-41A2-B6EF-26E486F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Three representations, one classifier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D240D-63CC-4228-8AEF-8A4D543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790700"/>
          <a:ext xmlns:a="http://schemas.openxmlformats.org/drawingml/2006/main" cx="1087755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619500"/>
                <a:gridCol w="4638675"/>
              </a:tblGrid>
              <a:tr h="6715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Representation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choice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TF-IDF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Unigrams and bigrams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Up to 30,000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LDA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Topic proportions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20 or 40 topics, count input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Doc2Vec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Dense document vectors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100 dimensions, 30 epochs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97A29-209B-4503-89D2-CE2C6CAC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Logistic Regression: C = 0.1, 1,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B1E16-8388-4D9C-BFE4-A95EA07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LDA uses counts. Doc2Vec uses inferred vectors consistently across all partitions.</a:t>
            </a:r>
          </a:p>
        </p:txBody>
      </p:sp>
    </p:spTree>
    <p:extLst>
      <p:ext uri="{BB962C8B-B14F-4D97-AF65-F5344CB8AC3E}">
        <p14:creationId xmlns:p14="http://schemas.microsoft.com/office/powerpoint/2010/main" val="1153004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F3BD-FAF8-4810-9812-86EABC3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Held-out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14E65-7CAF-41BF-ACC8-A9A933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743075"/>
          <a:ext xmlns:a="http://schemas.openxmlformats.org/drawingml/2006/main" cx="53149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1428750"/>
                <a:gridCol w="14287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TF-IDF + LR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0.819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0.719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LDA + 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0.688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0.522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Doc2Vec + LR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0.735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0.643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53149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3b55d4d5041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A0E7A-B906-41F7-9B5C-4BC2F5E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Validation-selected model: TF-IDF + LR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1D23E-5888-4BAF-BE4F-09BA251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Macro-F1 gives each category equal weight. Test scores never select the model.</a:t>
            </a:r>
          </a:p>
        </p:txBody>
      </p:sp>
    </p:spTree>
    <p:extLst>
      <p:ext uri="{BB962C8B-B14F-4D97-AF65-F5344CB8AC3E}">
        <p14:creationId xmlns:p14="http://schemas.microsoft.com/office/powerpoint/2010/main" val="950830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DD6B2-CBB5-4BBB-B98B-799F778A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Saved-model notebook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9C56-A7FB-4F57-81AD-3D8844F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B934B-C00F-4B6D-9D16-8425B1A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Example: Criminal Procedure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7FD80-3A62-46C3-9138-26A6B3B5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TF-IDF prediction: Criminal Procedure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3086100"/>
          <a:ext xmlns:a="http://schemas.openxmlformats.org/drawingml/2006/main" cx="5334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857375"/>
              </a:tblGrid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 category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probability</a:t>
                      </a:r>
                    </a:p>
                  </a:txBody>
                  <a:tcPr marL="91440" marR="91440" marT="45720" marB="45720">
                    <a:solidFill>
                      <a:srgbClr val="19394A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Criminal Procedure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92.2%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Civil Rights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2.9%</a:t>
                      </a:r>
                    </a:p>
                  </a:txBody>
                  <a:tcPr marL="91440" marR="91440" marT="45720" marB="45720">
                    <a:solidFill>
                      <a:srgbClr val="EAF0F1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Due 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94A"/>
                          </a:solidFill>
                          <a:latin typeface="Arial"/>
                          <a:ea typeface="Arial"/>
                          <a:cs typeface="Arial"/>
                        </a:rPr>
                        <a:t>2.5%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AECDC-AA0F-4D3D-A68B-32F2C4C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Similar training opinions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CE4EA-AC45-4A56-BC00-A0995DA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433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MARINO v. RAGEN, WARDEN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MCNEAL v. CULVER, STATE PRISON CUSTODIAN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UVEGES v. PENNSYLVANIA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E5F27-DD68-4152-834B-280D0D0E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No retraining. Probabilities are uncalibrated. Similarity does not establish legal authority.</a:t>
            </a:r>
          </a:p>
        </p:txBody>
      </p:sp>
    </p:spTree>
    <p:extLst>
      <p:ext uri="{BB962C8B-B14F-4D97-AF65-F5344CB8AC3E}">
        <p14:creationId xmlns:p14="http://schemas.microsoft.com/office/powerpoint/2010/main" val="1465753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A8C3A-0B7C-4E37-8439-28F8EA7F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94A"/>
                </a:solidFill>
                <a:latin typeface="Arial"/>
                <a:ea typeface="Arial"/>
                <a:cs typeface="Arial"/>
              </a:rPr>
              <a:t>Conclusions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7CDC3-F2E4-474A-BC59-B7A4D846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2CB4C-35CA-4D4B-B5F6-3491F8EE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C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C91"/>
                </a:solidFill>
                <a:latin typeface="Arial"/>
                <a:ea typeface="Arial"/>
                <a:cs typeface="Arial"/>
              </a:rPr>
              <a:t>TF-IDF + LR reaches 81.9% test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3C83-47DA-4016-BEF0-7FB6D80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39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394A"/>
                </a:solidFill>
                <a:latin typeface="Arial"/>
                <a:ea typeface="Arial"/>
                <a:cs typeface="Arial"/>
              </a:rPr>
              <a:t>Our comparison supports classification and qualitative opinion retrieval on this historical corpus.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EBD71-8A4F-4998-BAB8-B59D78D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1076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Future-case generalization needs a temporal evaluation.</a:t>
            </a:r>
          </a:p>
          <a:p xmlns:a="http://schemas.openxmlformats.org/drawingml/2006/main">
            <a:pPr>
              <a:defRPr sz="195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Small categories and source-label noise limit reliability.</a:t>
            </a:r>
          </a:p>
          <a:p xmlns:a="http://schemas.openxmlformats.org/drawingml/2006/main">
            <a:pPr>
              <a:defRPr sz="195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Short passages differ from full opinions.</a:t>
            </a:r>
          </a:p>
          <a:p xmlns:a="http://schemas.openxmlformats.org/drawingml/2006/main">
            <a:pPr>
              <a:defRPr sz="1950" b="0">
                <a:solidFill>
                  <a:srgbClr val="556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C77"/>
                </a:solidFill>
                <a:latin typeface="Arial"/>
                <a:ea typeface="Arial"/>
                <a:cs typeface="Arial"/>
              </a:rPr>
              <a:t>The US corpus does not establish performance on Indian law.</a:t>
            </a:r>
          </a:p>
        </p:txBody>
      </p:sp>
    </p:spTree>
    <p:extLst>
      <p:ext uri="{BB962C8B-B14F-4D97-AF65-F5344CB8AC3E}">
        <p14:creationId xmlns:p14="http://schemas.microsoft.com/office/powerpoint/2010/main" val="147406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2026-10-04T13:55:49.2120000Z</dcterms:created>
  <dcterms:modified xsi:type="dcterms:W3CDTF">2026-10-04T13:55:49.2120000Z</dcterms:modified>
</coreProperties>
</file>